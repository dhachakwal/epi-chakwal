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rts/chart1.xml" ContentType="application/vnd.openxmlformats-officedocument.drawingml.chart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rts/chart2.xml" ContentType="application/vnd.openxmlformats-officedocument.drawingml.chart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rts/chart3.xml" ContentType="application/vnd.openxmlformats-officedocument.drawingml.chart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30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77" r:id="rId13"/>
    <p:sldId id="309" r:id="rId14"/>
    <p:sldId id="258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8" r:id="rId24"/>
    <p:sldId id="310" r:id="rId25"/>
    <p:sldId id="279" r:id="rId26"/>
    <p:sldId id="280" r:id="rId27"/>
    <p:sldId id="281" r:id="rId28"/>
    <p:sldId id="282" r:id="rId29"/>
    <p:sldId id="283" r:id="rId30"/>
    <p:sldId id="311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3" r:id="rId40"/>
    <p:sldId id="294" r:id="rId41"/>
    <p:sldId id="312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7" r:id="rId53"/>
    <p:sldId id="305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262" r:id="rId63"/>
    <p:sldId id="306" r:id="rId6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view3D>
      <c:rotX val="15"/>
      <c:rotY val="20"/>
      <c:rAngAx val="0"/>
    </c:view3D>
    <c:floor>
      <c:thickness val="0"/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Reports %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dLbl>
              <c:idx val="0"/>
              <c:layout>
                <c:manualLayout>
                  <c:x val="-4.04169346286349E-17"/>
                  <c:y val="-1.42450142450142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93-4E5B-AAF4-AE0F91B6E6C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Chakwal</c:v>
                </c:pt>
                <c:pt idx="1">
                  <c:v>Choa Saidan Shah</c:v>
                </c:pt>
                <c:pt idx="2">
                  <c:v>Kallar Kahar</c:v>
                </c:pt>
                <c:pt idx="3">
                  <c:v>Talagang</c:v>
                </c:pt>
                <c:pt idx="4">
                  <c:v>Overall District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3-4E5B-AAF4-AE0F91B6E6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shape val="box"/>
        <c:axId val="2094734554"/>
        <c:axId val="2094734552"/>
        <c:axId val="0"/>
      </c:bar3D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Non-Visited UCs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Chakwal</c:v>
                </c:pt>
                <c:pt idx="1">
                  <c:v>Talagang</c:v>
                </c:pt>
                <c:pt idx="2">
                  <c:v>Choa Saidan Shah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24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0C-4BFD-861D-B1C531E5E6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Achieved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M. Rashid</c:v>
                </c:pt>
                <c:pt idx="1">
                  <c:v>Zafar Iqbal</c:v>
                </c:pt>
                <c:pt idx="2">
                  <c:v>Ansar Mehmood</c:v>
                </c:pt>
                <c:pt idx="3">
                  <c:v>W. M. Raja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AF-4265-92C4-32EFDE5DEA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M. Rashid</c:v>
                </c:pt>
                <c:pt idx="1">
                  <c:v>Zafar Iqbal</c:v>
                </c:pt>
                <c:pt idx="2">
                  <c:v>Ansar Mehmood</c:v>
                </c:pt>
                <c:pt idx="3">
                  <c:v>W. M. Raja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AF-4265-92C4-32EFDE5DEA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28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5654-3963-3666-D098-ECF30370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9264F-DBEE-0197-C114-85F5DC300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C83EF-991E-60D2-9133-962AF6EE0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B65D5-12CF-51C0-14EC-2EEC9D094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1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B3F2-CACB-9F70-C719-22EA5D13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DD1B0-3381-B93F-4788-27A1E47A7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0C3FB-951A-6913-F68C-68A3AF7F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20467-5964-551B-C8FC-339F01C74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28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2A37-56B9-902F-8A6F-3FF8E9A3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9B540-852C-5554-07C1-8DD097A42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B0E9E-9873-1AEF-3EFD-6379C451D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A92CD-3C00-B19F-690A-C3E31E111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76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731E-2A31-E9F8-03A8-4CC3D20C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18E19-044D-8C44-A931-7D6511BC5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60172-1235-1C01-C2F5-69888EA40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70CF8-B843-C02C-9602-FE3733EDB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010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65C4-0E82-BE69-24C4-FFAF6174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C43B4-B52C-45AC-DB61-BCB478E39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A8864-3297-E9A6-EAFE-7179ACD62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F4D87-6BEC-21A5-A0EF-40B897578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639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5331-BECD-9F8F-D369-142BB1E1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E00EA-0AD9-ABF0-4EA4-C17464E0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B846C-C37D-D1C9-2D0B-1D9E2759E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4F060-D273-277A-011E-F65DD98F9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668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B2BB1-581D-B0D5-BC2C-CF8B7E3F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DB26A-8AA7-1B44-A9F5-C6EBDFE7D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CAEE5-C410-A99C-C8A9-6833691A2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47B57-C750-25A3-6926-1B6E42405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809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ROUTINE IMMUNIZATION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Chakwal  |  July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Tehsil-wise &amp; Union Council-wise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 •  Drop-out Rates  •  Low Performing UCs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Programme on Immunization  |  District Chakwal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 (Agenda)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UC-wise Vaccination Coverage 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Tehsil-wise tables with color-coded coverage percentages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BCG→Penta-1, Penta-1→Penta-3, MR-1→MR-2 for all UCs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82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– July 2026</a:t>
            </a:r>
          </a:p>
        </p:txBody>
      </p:sp>
      <p:sp>
        <p:nvSpPr>
          <p:cNvPr id="18" name="Text 16"/>
          <p:cNvSpPr/>
          <p:nvPr/>
        </p:nvSpPr>
        <p:spPr>
          <a:xfrm>
            <a:off x="1371600" y="3364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cs typeface="Calibri" pitchFamily="34" charset="-120"/>
              </a:rPr>
              <a:t>Vaccinators Attendance Status for the Month of July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142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– Jun 2025 to Jul 2026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4325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&amp; </a:t>
            </a:r>
            <a:r>
              <a:rPr lang="en-US" sz="1200" dirty="0" err="1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Teshil</a:t>
            </a: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Wise QR Code Status of District Chakwal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B7F9E-A392-6901-9B46-A35147DB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2DE559-EA6F-E581-0CB6-77B59D662B46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9BCCB9-2FFB-8714-F112-E64DCE31A073}"/>
              </a:ext>
            </a:extLst>
          </p:cNvPr>
          <p:cNvSpPr/>
          <p:nvPr/>
        </p:nvSpPr>
        <p:spPr>
          <a:xfrm>
            <a:off x="2392680" y="2160270"/>
            <a:ext cx="435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Wise Vaccination Coverage Percentage 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4F461D-663C-C2B0-D68F-637879655ACD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290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Chakwal (1/3)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472602"/>
              </p:ext>
            </p:extLst>
          </p:nvPr>
        </p:nvGraphicFramePr>
        <p:xfrm>
          <a:off x="182880" y="640080"/>
          <a:ext cx="850392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Balokassar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Bhikari Kalan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Malook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Chakumra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Chakwal (2/3)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78712"/>
              </p:ext>
            </p:extLst>
          </p:nvPr>
        </p:nvGraphicFramePr>
        <p:xfrm>
          <a:off x="182880" y="640080"/>
          <a:ext cx="850392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 Khushal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 Khan Zada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Kariyalla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Karsal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Chakwal (3/3)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040288"/>
              </p:ext>
            </p:extLst>
          </p:nvPr>
        </p:nvGraphicFramePr>
        <p:xfrm>
          <a:off x="320040" y="501012"/>
          <a:ext cx="8503920" cy="4468819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Chudhrian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Mulhal Mughlan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Oudherwal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Padhshan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Saigalabad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1006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69831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Choa Saidan Shah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54401"/>
              </p:ext>
            </p:extLst>
          </p:nvPr>
        </p:nvGraphicFramePr>
        <p:xfrm>
          <a:off x="320040" y="539496"/>
          <a:ext cx="8503920" cy="385826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Basharat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Saiden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Dandoot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Dulmial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Lehr Sultan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Kallar Kahar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803230"/>
              </p:ext>
            </p:extLst>
          </p:nvPr>
        </p:nvGraphicFramePr>
        <p:xfrm>
          <a:off x="320040" y="627502"/>
          <a:ext cx="8503920" cy="426453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Kallan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Talagang (1/3)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77424"/>
              </p:ext>
            </p:extLst>
          </p:nvPr>
        </p:nvGraphicFramePr>
        <p:xfrm>
          <a:off x="274320" y="609600"/>
          <a:ext cx="850392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Bhillomar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J.Shah Dilwar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Jhatla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Qazi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Sarang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Talagang (2/3)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258006"/>
              </p:ext>
            </p:extLst>
          </p:nvPr>
        </p:nvGraphicFramePr>
        <p:xfrm>
          <a:off x="182880" y="612648"/>
          <a:ext cx="850392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Rural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Urban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Nakka Kahoot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Pichnanad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 Phatial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Sagghar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East U-I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|  Tehsil Talagang (3/3)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707862"/>
              </p:ext>
            </p:extLst>
          </p:nvPr>
        </p:nvGraphicFramePr>
        <p:xfrm>
          <a:off x="320040" y="640080"/>
          <a:ext cx="8503920" cy="1850075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West U-III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Khan-I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Mehramkhan-II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Tehsil-wise Summary – Vaccination Coverage %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42721"/>
              </p:ext>
            </p:extLst>
          </p:nvPr>
        </p:nvGraphicFramePr>
        <p:xfrm>
          <a:off x="320040" y="640080"/>
          <a:ext cx="8686800" cy="22726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IPV-1 %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DTP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coverage % across all UCs in each tehsil (simple mean of UC-level percentages). Color coding same as coverage legend.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36576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Avg Coverage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Thoa Mehram Khan-I, Kot Sarang, Urban Chakwal UCs show &gt;100% on several antigens (possible catch-up / data lag).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6576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Focus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UCs with &lt;30% coverage on BCG/Penta (Khai, Mogla, Dhab Khushal, Saloi, Buchal Khurd, Niraghi).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9C6C0-C4A6-22A5-9642-CC98F1B3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2CD632-C744-7C15-C347-F7D2634E3A09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E34243-9F43-E93A-9B29-1A77EF6B5103}"/>
              </a:ext>
            </a:extLst>
          </p:cNvPr>
          <p:cNvSpPr/>
          <p:nvPr/>
        </p:nvSpPr>
        <p:spPr>
          <a:xfrm>
            <a:off x="3261360" y="216027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WISE DROPOUT RATE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B85022F-CF0D-2525-BB82-14905858C33B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8728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Color Legend &amp; Drop-out Formula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Green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188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A3E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– 89%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Green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– needs monitoring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1188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– 79%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– improvement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70%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– priority 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 Formulas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017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BCG → Penta-1:   </a:t>
            </a:r>
            <a:r>
              <a:rPr lang="en-US" sz="1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(BCG − Penta-1) / BCG × 100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Penta-1 → Penta-3:   </a:t>
            </a:r>
            <a:r>
              <a:rPr lang="en-US" sz="1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(Penta-1 − Penta-3) / Penta-1 × 100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MR-1 → MR-2:   </a:t>
            </a:r>
            <a:r>
              <a:rPr lang="en-US" sz="1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(MR-1 − MR-2) / MR-1 × 100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743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Colour Scale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3063240"/>
            <a:ext cx="3017520" cy="36576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to +5%  →  Good (Green)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3520440"/>
            <a:ext cx="3017520" cy="36576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to +10%  →  Amber 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977640"/>
            <a:ext cx="301752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+10%  or  &lt; −1%  →  Full Red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DO = children lost between doses. Negative DO beyond −2% also flagged red.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Chakwal (1/3)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77111"/>
              </p:ext>
            </p:extLst>
          </p:nvPr>
        </p:nvGraphicFramePr>
        <p:xfrm>
          <a:off x="525780" y="606422"/>
          <a:ext cx="8092440" cy="4141476"/>
        </p:xfrm>
        <a:graphic>
          <a:graphicData uri="http://schemas.openxmlformats.org/drawingml/2006/table">
            <a:tbl>
              <a:tblPr/>
              <a:tblGrid>
                <a:gridCol w="30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Balokassar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Bhikari Kalan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Malook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Chakumra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Chakwal (2/3)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715196"/>
              </p:ext>
            </p:extLst>
          </p:nvPr>
        </p:nvGraphicFramePr>
        <p:xfrm>
          <a:off x="525780" y="596262"/>
          <a:ext cx="8092440" cy="4141476"/>
        </p:xfrm>
        <a:graphic>
          <a:graphicData uri="http://schemas.openxmlformats.org/drawingml/2006/table">
            <a:tbl>
              <a:tblPr/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 Khushal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 Khan Zada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Kariyalla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Karsal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Chakwal (3/3)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17413"/>
              </p:ext>
            </p:extLst>
          </p:nvPr>
        </p:nvGraphicFramePr>
        <p:xfrm>
          <a:off x="525780" y="539496"/>
          <a:ext cx="8092440" cy="4468819"/>
        </p:xfrm>
        <a:graphic>
          <a:graphicData uri="http://schemas.openxmlformats.org/drawingml/2006/table">
            <a:tbl>
              <a:tblPr/>
              <a:tblGrid>
                <a:gridCol w="34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Chudhrian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Mulhal Mughlan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Oudherwal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Padhshan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Saigalabad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93133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Choa Saidan Shah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18332"/>
              </p:ext>
            </p:extLst>
          </p:nvPr>
        </p:nvGraphicFramePr>
        <p:xfrm>
          <a:off x="525780" y="619760"/>
          <a:ext cx="8092440" cy="3834325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Basharat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Saiden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Dandoot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Dulmial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Lehr Sultan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Kallar Kahar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08207"/>
              </p:ext>
            </p:extLst>
          </p:nvPr>
        </p:nvGraphicFramePr>
        <p:xfrm>
          <a:off x="525780" y="565211"/>
          <a:ext cx="8092440" cy="426453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Kallan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Talagang (1/3)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10468"/>
              </p:ext>
            </p:extLst>
          </p:nvPr>
        </p:nvGraphicFramePr>
        <p:xfrm>
          <a:off x="525780" y="632968"/>
          <a:ext cx="8092440" cy="4141476"/>
        </p:xfrm>
        <a:graphic>
          <a:graphicData uri="http://schemas.openxmlformats.org/drawingml/2006/table">
            <a:tbl>
              <a:tblPr/>
              <a:tblGrid>
                <a:gridCol w="30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Bhillomar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J.Shah Dilwar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Jhatla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Qazi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Sarang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Talagang (2/3)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207564"/>
              </p:ext>
            </p:extLst>
          </p:nvPr>
        </p:nvGraphicFramePr>
        <p:xfrm>
          <a:off x="525780" y="592328"/>
          <a:ext cx="8092440" cy="4141476"/>
        </p:xfrm>
        <a:graphic>
          <a:graphicData uri="http://schemas.openxmlformats.org/drawingml/2006/table">
            <a:tbl>
              <a:tblPr/>
              <a:tblGrid>
                <a:gridCol w="30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Rural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Urban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Nakka Kahoot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Pichnanad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 Phatial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Sagghar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East U-I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Rates Analysis  |  Tehsil Talagang (3/3)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89242"/>
              </p:ext>
            </p:extLst>
          </p:nvPr>
        </p:nvGraphicFramePr>
        <p:xfrm>
          <a:off x="525780" y="640080"/>
          <a:ext cx="8092440" cy="1850075"/>
        </p:xfrm>
        <a:graphic>
          <a:graphicData uri="http://schemas.openxmlformats.org/drawingml/2006/table">
            <a:tbl>
              <a:tblPr/>
              <a:tblGrid>
                <a:gridCol w="3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BCG→P1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P1→P3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MR1→MR2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West U-III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Khan-I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Mehramkhan-II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Colour: −2% to +5% Green | +5% to +10% Amber-Red | &gt;+10% or &lt;−2% Red   •   Source: EMR July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Tehsil-wise Summary – Drop-out Rates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20616"/>
              </p:ext>
            </p:extLst>
          </p:nvPr>
        </p:nvGraphicFramePr>
        <p:xfrm>
          <a:off x="457200" y="768411"/>
          <a:ext cx="8229600" cy="2452309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BCG→P1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P1→P3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MR1→MR2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 with High DO (&gt;10%)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18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drop-out: &gt;+10% or &lt;−2% between consecutive doses. Investigate defaulters, session quality, and data anomalies.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7F05-7F07-6D30-1234-C1F327FF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660209-0398-183B-853B-D48E3A1DAE0B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394ED4-D6FF-2B96-E184-94C041224C39}"/>
              </a:ext>
            </a:extLst>
          </p:cNvPr>
          <p:cNvSpPr/>
          <p:nvPr/>
        </p:nvSpPr>
        <p:spPr>
          <a:xfrm>
            <a:off x="3357880" y="2160270"/>
            <a:ext cx="242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PERFORMING UCs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F22E64C-089D-7B06-6499-BD2814D2A965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17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Performing UCs (Coverage &lt; 60%)  (1/4)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640386"/>
              </p:ext>
            </p:extLst>
          </p:nvPr>
        </p:nvGraphicFramePr>
        <p:xfrm>
          <a:off x="411480" y="602488"/>
          <a:ext cx="8321040" cy="407607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 Khushal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Mehramkhan-II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West U-III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East U-I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UCs with average of BCG + Penta-1 + Penta-3 + MR-1 coverage below 60%. Total low-performing: 49 of 83 UCs.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Performing UCs (Coverage &lt; 60%)  (2/4)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27882"/>
              </p:ext>
            </p:extLst>
          </p:nvPr>
        </p:nvGraphicFramePr>
        <p:xfrm>
          <a:off x="411480" y="632968"/>
          <a:ext cx="8321040" cy="407607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U-II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Sagghar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Chudhrian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Saigalabad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 Khan Zada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Basharat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UCs with average of BCG + Penta-1 + Penta-3 + MR-1 coverage below 60%. Total low-performing: 49 of 83 UCs.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Performing UCs (Coverage &lt; 60%)  (3/4)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343356"/>
              </p:ext>
            </p:extLst>
          </p:nvPr>
        </p:nvGraphicFramePr>
        <p:xfrm>
          <a:off x="411480" y="632968"/>
          <a:ext cx="8321040" cy="407607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Bhikari Kalan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Noor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Balokassar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Dulmial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Dandoot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J.Shah Dilwar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UCs with average of BCG + Penta-1 + Penta-3 + MR-1 coverage below 60%. Total low-performing: 49 of 83 UCs.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Performing UCs (Coverage &lt; 60%)  (4/4)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496631"/>
              </p:ext>
            </p:extLst>
          </p:nvPr>
        </p:nvGraphicFramePr>
        <p:xfrm>
          <a:off x="411480" y="612648"/>
          <a:ext cx="8321040" cy="2504761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Penta3 %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Kallan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Padhshan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Pichnanad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UCs with average of BCG + Penta-1 + Penta-3 + MR-1 coverage below 60%. Total low-performing: 49 of 83 UCs.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09728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86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Zero-dose &amp; Low Coverage UCs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outreach in Khai, Mogla, Dhab Khushal, Saloi, Buchal Khurd, Niraghi and Urban low performers. Conduct micro-planning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109728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47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Drop-outs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defaulter tracking between BCG→Penta-1 and MR-1→MR-2. Use SMS reminders and community mobilizers for follow-up.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09728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Catch-up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&gt;100% coverage UCs (possible backlog reporting). Ensure timely EMR entry and validation of targets vs. actual births.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109728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767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Tehsil Support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Talagang and Chakwal have the largest number of low-performing UCs. Deploy additional supervisory visits and supportive supervision.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AE35-4678-8A98-BCB5-9BF7BDBF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AB9301-12CF-D3E7-4E00-A01E84D79866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C46FAD-38D4-96B5-0249-0D7669024492}"/>
              </a:ext>
            </a:extLst>
          </p:cNvPr>
          <p:cNvSpPr/>
          <p:nvPr/>
        </p:nvSpPr>
        <p:spPr>
          <a:xfrm>
            <a:off x="3357880" y="2160270"/>
            <a:ext cx="242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Vaccinators Attendance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B222CA-DCF1-2DB8-F06D-C4F5C92F0B78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6765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– July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= Present (counted as Present)     A  = Absent (counted as Absent)     S.L = Short Leave (counted as Absent)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 =  (Present Days ÷ Total Working Days) × 100     |     Working days in July: 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1945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Attendance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1945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Colour Scale (same as coverage)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0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A3E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– 89%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– 79%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40233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70%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Chakwal (1/3)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366782"/>
              </p:ext>
            </p:extLst>
          </p:nvPr>
        </p:nvGraphicFramePr>
        <p:xfrm>
          <a:off x="411480" y="549656"/>
          <a:ext cx="832104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Riaz Hussain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Khuram Shahzad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BALOKASSAR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Saad 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Masood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BIKHARI KALAN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Tahir Abbas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MALOOK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Umar Nawab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UMRA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Umer Shahzad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Amjad Hussain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Adnan Roshan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Areeba Israr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Shams Ul Abbas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Shoaib Hussain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Chakwal (2/3)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06600"/>
              </p:ext>
            </p:extLst>
          </p:nvPr>
        </p:nvGraphicFramePr>
        <p:xfrm>
          <a:off x="411480" y="612648"/>
          <a:ext cx="832104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Tajammal Hussain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DHUDIAL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Waleed Shehzad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Waqas 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Tabassam Nazir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Usman Farooq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Qaiser Mehmood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 KHANZADA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Saghir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Asad Hanif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KARSAL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Sajjad Hussain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 Sharif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CHOHDRIAN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Rehan Ul Tayyebain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Shahzaib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Chakwal (3/3)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88445"/>
              </p:ext>
            </p:extLst>
          </p:nvPr>
        </p:nvGraphicFramePr>
        <p:xfrm>
          <a:off x="411480" y="640080"/>
          <a:ext cx="8321040" cy="2504761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MULHAL MUGHLAN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Saghir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Yasir Ahmed Khan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OUDHERWAL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Arshad Ali Khan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PADSHAN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 Farooq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 Muneeb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Haroon  Ashraf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Nouman Ahmad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Choa Saidan Shah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363006"/>
              </p:ext>
            </p:extLst>
          </p:nvPr>
        </p:nvGraphicFramePr>
        <p:xfrm>
          <a:off x="411480" y="612648"/>
          <a:ext cx="8321040" cy="254368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BASHARAT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 Basit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SAIDEN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Danish Firdous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Mussawar Ul Haq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DULMIAL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Ijaz Hussain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LEHAR SULTAN 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Waqar Haider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Kallar Kahar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94296"/>
              </p:ext>
            </p:extLst>
          </p:nvPr>
        </p:nvGraphicFramePr>
        <p:xfrm>
          <a:off x="411480" y="640080"/>
          <a:ext cx="8321040" cy="3834325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Khalil ur Rehman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KALAN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 Kashif Nouman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Tauseef Nauman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Fahim Razaq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Khawar Iftakhar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Sheraz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Azhar Javed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Asif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Talagang (1/2)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353216"/>
              </p:ext>
            </p:extLst>
          </p:nvPr>
        </p:nvGraphicFramePr>
        <p:xfrm>
          <a:off x="411480" y="612648"/>
          <a:ext cx="8321040" cy="414147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BHILOMAR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Abdullah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BIDHAR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Atif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Saqib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Aakash Rasheed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Nafees Ahmed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JABI SHAH DILAWAR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Asif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Faisal Ayub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JHATTLA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Waheed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Umair Khalid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QAZI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Amer Sameem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SARANG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Mohsin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RURAL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Shahid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counted as Absent  •  Att % = Present ÷ 25 working days  •  Colour: ≥90% Green | 80-89% Amber-Green | 70-79% Amber-Red | &lt;70% Red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Vaccinator Attendance %  |  Tehsil Talagang (2/2)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53964"/>
              </p:ext>
            </p:extLst>
          </p:nvPr>
        </p:nvGraphicFramePr>
        <p:xfrm>
          <a:off x="411480" y="526158"/>
          <a:ext cx="8321040" cy="4468819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URBAN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Shabbir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Waqas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Saqlain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Saddique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NAKKA KAHUT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Afzal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PICHNAND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Saeed Ur Rehman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 FATEHIAL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Amjad Mehmood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Zeeshan Akbar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Nouman Ali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Najeed ul Zaman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Farhan Shazad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 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Khalid Iqbal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21162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Attendance Vaccinators (Attendance &lt; 70%)</a:t>
            </a:r>
            <a:endParaRPr lang="en-US" sz="1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1439"/>
              </p:ext>
            </p:extLst>
          </p:nvPr>
        </p:nvGraphicFramePr>
        <p:xfrm>
          <a:off x="365760" y="670560"/>
          <a:ext cx="8412480" cy="2973899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Council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Shoaib Hussain Shah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Saddique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 Sharif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Asad Hanif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Areeba Israr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Aakash Rasheed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low-attendance: 6  •  S.L treated as Absent  •  Action: counselling / inquiry as per policy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Tehsil-wise Attendance Summary</a:t>
            </a:r>
            <a:endParaRPr lang="en-US" sz="16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21389"/>
              </p:ext>
            </p:extLst>
          </p:nvPr>
        </p:nvGraphicFramePr>
        <p:xfrm>
          <a:off x="731520" y="808673"/>
          <a:ext cx="7680960" cy="276955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Att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Att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9760" y="4399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 (Short Leave) is counted as Absent for attendance percentage calculation.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4401-99F4-D5E8-89B3-8F5AA2A0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EAB943-6866-1E56-8658-529F557661B6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D760F9-CFE4-7BBA-36C8-A2A40043AFD9}"/>
              </a:ext>
            </a:extLst>
          </p:cNvPr>
          <p:cNvSpPr/>
          <p:nvPr/>
        </p:nvSpPr>
        <p:spPr>
          <a:xfrm>
            <a:off x="3096260" y="2160270"/>
            <a:ext cx="295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(Registration) Status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3F16770-7AD8-1609-4288-FC2BBDD9DE3B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230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– Jun 2025 to Jul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Registration Status (EPI Card QR scans / registrations)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June 2025 – July 2026  |  Threshold: &lt; 150 = Low (Red)  |  ≥ 150 = Acceptable (Green)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26,288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QR Codes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150 (Green)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(Red)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150  →  Green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150  →  Full Red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Chakwal (1/3)</a:t>
            </a:r>
            <a:endParaRPr lang="en-US" sz="1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406344"/>
              </p:ext>
            </p:extLst>
          </p:nvPr>
        </p:nvGraphicFramePr>
        <p:xfrm>
          <a:off x="1097280" y="539496"/>
          <a:ext cx="6949440" cy="41386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DHQ Hospital 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OUDHERWAL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BALKASSAR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MALOOK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MULHAL MUGHLAN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SAIGALABAD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Chakwal (2/3)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42902"/>
              </p:ext>
            </p:extLst>
          </p:nvPr>
        </p:nvGraphicFramePr>
        <p:xfrm>
          <a:off x="1097280" y="472440"/>
          <a:ext cx="6949440" cy="44257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BALOKASSAR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CHOHDRIAN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 KHANZADA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DHUDIAL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KARIALA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PADSHAN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 URBAN 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DULLAH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423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Chakwal (3/3)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087905"/>
              </p:ext>
            </p:extLst>
          </p:nvPr>
        </p:nvGraphicFramePr>
        <p:xfrm>
          <a:off x="1097280" y="640080"/>
          <a:ext cx="6949440" cy="327343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BIKHARI KALAN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GANJ ALI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 UMRA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 KHUSHAL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Choa Saidan Shah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01008"/>
              </p:ext>
            </p:extLst>
          </p:nvPr>
        </p:nvGraphicFramePr>
        <p:xfrm>
          <a:off x="1097280" y="539496"/>
          <a:ext cx="6949440" cy="430213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SAIDEN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LEHAR SULTAN 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THQ Hospital Choa Saidan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DULMIAL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DANDOT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BASHARAT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Kallar Kahar</a:t>
            </a:r>
            <a:endParaRPr lang="en-US" sz="16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106598"/>
              </p:ext>
            </p:extLst>
          </p:nvPr>
        </p:nvGraphicFramePr>
        <p:xfrm>
          <a:off x="1097280" y="589184"/>
          <a:ext cx="6949440" cy="386302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BHERPUR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 Center Kallar Kahar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KALAN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Talagang (1/3)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227650"/>
              </p:ext>
            </p:extLst>
          </p:nvPr>
        </p:nvGraphicFramePr>
        <p:xfrm>
          <a:off x="1097280" y="619760"/>
          <a:ext cx="6949440" cy="409131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Hospital + THQ Hospital 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BHILOMAR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JHATTLA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PICHNAND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URBAN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 FATEHIAL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QAZI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NAKKA KAHUT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SARANG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Talagang (2/3)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687322"/>
              </p:ext>
            </p:extLst>
          </p:nvPr>
        </p:nvGraphicFramePr>
        <p:xfrm>
          <a:off x="1097280" y="602488"/>
          <a:ext cx="6949440" cy="41386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BHUDIAL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RURAL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JABI SHAH DILAWAR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Status  |  Tehsil Talagang (3/3)</a:t>
            </a:r>
            <a:endParaRPr lang="en-US" sz="1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469113"/>
              </p:ext>
            </p:extLst>
          </p:nvPr>
        </p:nvGraphicFramePr>
        <p:xfrm>
          <a:off x="1097280" y="640080"/>
          <a:ext cx="6949440" cy="113633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Jun 2025 – Jul 2026  •  &lt; 150 = Red (Low)  •  ≥ 150 = Green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QR Code Locations (&lt; 150)</a:t>
            </a:r>
            <a:endParaRPr lang="en-US" sz="16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50383"/>
              </p:ext>
            </p:extLst>
          </p:nvPr>
        </p:nvGraphicFramePr>
        <p:xfrm>
          <a:off x="731520" y="539496"/>
          <a:ext cx="7680960" cy="350945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THOA MEHRAM KHAN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 KHUSHAL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NIRAGHI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low QR locations: 24 of 87  •  Action: strengthen QR registration / awareness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7E164-E6DD-E590-5B1C-66235698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B45750-0C95-3C2B-F1CD-5D2B698F019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91B278-B12A-BD30-73E6-497339C9317A}"/>
              </a:ext>
            </a:extLst>
          </p:cNvPr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QR Code Locations (&lt; 150)</a:t>
            </a:r>
            <a:endParaRPr lang="en-US" sz="1600" dirty="0"/>
          </a:p>
        </p:txBody>
      </p:sp>
      <p:graphicFrame>
        <p:nvGraphicFramePr>
          <p:cNvPr id="50" name="Table 0">
            <a:extLst>
              <a:ext uri="{FF2B5EF4-FFF2-40B4-BE49-F238E27FC236}">
                <a16:creationId xmlns:a16="http://schemas.microsoft.com/office/drawing/2014/main" id="{B70F3836-501B-1D9E-C094-F7F019B0A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35075"/>
              </p:ext>
            </p:extLst>
          </p:nvPr>
        </p:nvGraphicFramePr>
        <p:xfrm>
          <a:off x="731520" y="497840"/>
          <a:ext cx="7680960" cy="44257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/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DHERMOND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 URBAN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MAINGON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JABI SHAH DILAWAR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JABAIRPUR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THANIL KAMAL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 GULLAH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LAWA RURAL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BUCHAL KHURD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MULTAN KHURD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563E310-0467-E4F5-6012-01D4842445C7}"/>
              </a:ext>
            </a:extLst>
          </p:cNvPr>
          <p:cNvSpPr/>
          <p:nvPr/>
        </p:nvSpPr>
        <p:spPr>
          <a:xfrm>
            <a:off x="274320" y="4943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low QR locations: 24 of 87  •  Action: strengthen QR registration / awareness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2656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Tehsil-wise QR Code Summary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965232"/>
              </p:ext>
            </p:extLst>
          </p:nvPr>
        </p:nvGraphicFramePr>
        <p:xfrm>
          <a:off x="1097280" y="914400"/>
          <a:ext cx="6949440" cy="2769553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QR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Chakwal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Choa Saidan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Kallar Kahar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Talagang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3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2ADB-C97A-FFE8-9BAF-6B22E1C5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03954F-BA79-2568-7A94-2908F71DCE51}"/>
              </a:ext>
            </a:extLst>
          </p:cNvPr>
          <p:cNvSpPr/>
          <p:nvPr/>
        </p:nvSpPr>
        <p:spPr>
          <a:xfrm>
            <a:off x="0" y="2068830"/>
            <a:ext cx="9144000" cy="5029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12AF8D-A8B1-CDD2-E976-10C4104319AF}"/>
              </a:ext>
            </a:extLst>
          </p:cNvPr>
          <p:cNvSpPr/>
          <p:nvPr/>
        </p:nvSpPr>
        <p:spPr>
          <a:xfrm>
            <a:off x="2943225" y="2160270"/>
            <a:ext cx="32575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VPD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WEEKLY ZERO REPORTS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CD05D68-07E3-B391-E984-D2FFE90F9D5D}"/>
              </a:ext>
            </a:extLst>
          </p:cNvPr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≥90% Green | 80-89% Amber-Green | 70-79% Amber-Red | &lt;70% Red   •   Source: EMR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3933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VPD Zero Reports Status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District Chakwal  |  July 2026  |  Expanded Programme on Immunization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05156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55080" y="1051560"/>
            <a:ext cx="2468880" cy="1097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5508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550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Overall District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922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Zero Reports Achievement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37960" y="2880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Chakwal Tehsil: 99%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All other Tehsils: 100%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Excellent performance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across the district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MIS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|  District Chakwal EPI  |  July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8AE3C1-694C-25E7-C0D8-81FCD1699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-1123" y="15475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Snapshot – July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01–29 July 2026  |  District Chakwal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1168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 with Zero Visits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checklist filled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20116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 Reporting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ASVs (Govt)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2011680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Visits / ASV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+ Outreach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2280" y="1051560"/>
            <a:ext cx="201168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ASVs Meeting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achievement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Non-Visited UCs by Tehsil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Chakwal Tehsil:  26 UCs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Choa Saidan Shah:  4 UCs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Talagang:  24 UCs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 54 Union Councils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Performance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Rashid:  20/20 (100%)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Zafar Iqbal:  20/20 (100%)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Ansar Mehmood:  3/20 (15%)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Wajid Maqbool Raja:  2/20 (10%)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Non-Visited UCs – Tehsil-wise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 with Zero Checklist (Fixed / Outreach / Mobile)  |  01–29 July 2026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05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005840"/>
            <a:ext cx="91440" cy="9144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Chakwal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521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UCs   (48% of total)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20574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77840" y="2057400"/>
            <a:ext cx="91440" cy="9144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521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Talagang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521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UCs   (44% of total)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0" y="31089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577840" y="3108960"/>
            <a:ext cx="91440" cy="9144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Choa Saidan Shah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UCs   (8% of total)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Non-Visited UCs – Tehsil Chakwal (26)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sites (Fixed / Outreach / Mobile) = 0 visits recorded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4114800" cy="29260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68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  Union Council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31520"/>
            <a:ext cx="4114800" cy="29260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68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  Union Council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 Padshahan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 Bikhari Kalan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002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 Dhab Khushal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87452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901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 Jabairpur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4884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 Balkassar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2316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4505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 Baigal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24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 Chakwal Urban 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 Chakwal Urban II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273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 Bheen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52044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 Chak Malook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79476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822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 Chak Umra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06908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0965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 Choa Ganj Ali Shah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3434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370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  Dhudial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105156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078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  Duhman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32588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13533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  Dullah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16002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  Jand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187452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1901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  Jand Khanzada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214884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0600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  Jaswal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242316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24505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  Kariala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269748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2724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  Karsal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297180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060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   Kot Choudrian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324612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3273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   Mangwal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352044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00600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  Mureed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09160" y="379476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3822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   Saigalabad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4069080"/>
            <a:ext cx="4114800" cy="274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00600" y="40965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   Saral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09160" y="43434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4370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  Warwal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Non-Visited UCs – Choa Saidan Shah &amp; Talagang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sites (Fixed / Outreach / Mobile) = 0 visits recorded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432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Choa Saidan Shah (4)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Dalwal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Dulmial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Lehr Sultan Pur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55778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777240"/>
            <a:ext cx="557784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841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Talagang (24)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Bhudial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Balokassar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Chakwal Urban III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Chakwal Urban IV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Basharat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Dandot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Khai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Jasial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Kot Qazi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Letti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Multan Khurd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Saghar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Kot Sarang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Thoa Mehram Khan 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Maingon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Moghla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Thanil Kamal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Saloi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Dhermond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Malakwal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Niraghi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Talagang Urban III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Thoa Mehram Khan II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Bidhar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Staff Performance vs Target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= 20 visits (Fixed + Outreach combined)  |  Period: 01–29 July 2026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74320" y="777240"/>
          <a:ext cx="7863840" cy="21945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of Monitor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Ach.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Rashid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Zafar Iqbal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Ansar Mehmood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Wajid Maqbool Raja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365760" y="3108960"/>
          <a:ext cx="84124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160520" cy="36576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UCs had zero supervisory checklist filled during the reporting period.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Chakwal (26) and Talagang (24) account for 93% of non-visited UCs.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of 4 ASVs (50%) met the monthly target of 20 visits.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Ansar Mehmood (3) and Wajid Maqbool Raja (2) performed significantly below target.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monitoring time ranged from 1–5 minutes per site.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68580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685800"/>
            <a:ext cx="4160520" cy="36576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749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supervisory visits to the 54 zero-visit UCs, starting with high-risk / low-coverage areas.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 / issue performance notice to ASVs with &lt;50% target achievement.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Redistribute workload or assign additional support in Chakwal &amp; Talagang tehsils.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checklist is filled for every Fixed and Outreach session monitored.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average time spent – quality of monitoring needs strengthening.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 District Chakwal  |  Supervisory Report  |  01–29 July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for a Fully Immunized Chakwal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Programme on Immunization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Chakwal  |  July 2026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8410</Words>
  <Application>Microsoft Office PowerPoint</Application>
  <PresentationFormat>On-screen Show (16:9)</PresentationFormat>
  <Paragraphs>3871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Chakwal EPI Vaccination Coverage Report - July 2026</dc:title>
  <dc:subject>Routine EPI Coverage Analysis</dc:subject>
  <dc:creator>EPI Chakwal</dc:creator>
  <cp:lastModifiedBy>waqas safdar</cp:lastModifiedBy>
  <cp:revision>10</cp:revision>
  <dcterms:created xsi:type="dcterms:W3CDTF">2026-07-29T17:10:06Z</dcterms:created>
  <dcterms:modified xsi:type="dcterms:W3CDTF">2026-07-30T05:51:07Z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2026-07-29T17:21:22Z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5ecc9456-d6db-4bd6-9c99-d9dadf58dbd6</vt:lpwstr>
  </property>
  <property fmtid="{D5CDD505-2E9C-101B-9397-08002B2CF9AE}" pid="7" name="MSIP_Label_defa4170-0d19-0005-0004-bc88714345d2_ActionId">
    <vt:lpwstr>eb6939b1-2618-4389-a369-d1ce3a048c53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